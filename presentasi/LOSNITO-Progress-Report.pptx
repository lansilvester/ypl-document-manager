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Sapa audiens teknis. Tekankan ini laporan progress jujur: phase 1-4 selesai, phase 5 berjalan, phase 6 belum. Tunjuk screenshot home asli.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alur. Minta audiens menahan pertanyaan demo sampai blok B selesai.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perbedaan vs repo PDF biasa: governance + community +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 versi exakt terverifikasi via artisan --version dan composer.json.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 pohon direktori. Tekankan Services sebagai otak: AskYpl, Recommendation, ImpactMap.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 commit history: governance BAB13, hapus dashboard, CI laravel.yml 10 Okt.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live: ketik di hero, harusnya ke /cari. Tunjuk stats 6 dokumen • 16 kategori • 335 dibaca.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Klik B01 → detail → Open Book masuk Reader tanpa hilang konteks (teruji).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keyboard arrows + swipe. Tunjuk Reading 100% + posisi tersimpan via api/posisi.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/governance/SOP…/impact untuk graf. Tekankan tidak ada bocor private (teruji).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ajukan layanan sebagai anggota, putuskan sebagai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jujur: /cari?q=… dengan tabel faqs yang belum ada sempat 500 di lokal — pakai /cari kosong untuk demo aman. Sudah dicatat sebagai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Arsitektur: AskController → AskYpl::answer visibleTo+searchAny → GeminiLlm::compose. Tamu=publik, anggota=+restricted+milik, admin=semua.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 kode RecommendationEngine::buildRelationMaps. Tekankan O(1) fixed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login sebagai tamu vs anggota lihat dokumen restricted. Tunjuk tests privasi.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Jalankan php artisan test --compact live jika sempat. Tunjuk .github/workflows/laravel.yml.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kejujuran: sebut bug faqs 500 yang baru ditemukan saat screenshot — jadi action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ajakan keputusan: pilih 1 prioritas Phase 6 untuk sprint berikutnya.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31352" y="0"/>
            <a:ext cx="3657600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YPL SMART DIGITAL LIBRARY  •  LAPORAN TEKNIS</a:t>
            </a:r>
          </a:p>
          <a:p>
            <a:pPr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LOSNITO Document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Progress Report untuk Tim Teknis / IT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BFDBFE"/>
                </a:solidFill>
                <a:latin typeface="Calibri"/>
              </a:rPr>
              <a:t>DISCOVER → KNOW → UNDERSTAND → ACT  •  Library Mode &amp; Reader Mode</a:t>
            </a:r>
          </a:p>
          <a:p>
            <a:pPr>
              <a:spcAft>
                <a:spcPts val="120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12 Oktober 2026  •  main  •  35 commits  •  Laravel 13.33 / PHP 8.5.8  •  ~90 tests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github.com/lansilvester/YPL-Document-Manager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9440" y="965840"/>
            <a:ext cx="4652000" cy="364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sktop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60170"/>
            <a:ext cx="4572000" cy="28575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949440" y="4617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Home — Everything YPL. One digital home. (desktop 1440px)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Presenter: Tim Dev  •  Durasi ±30 menit  •  18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01 — PEMBUKA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Agenda 30 Menit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5 blok: konsep → arsitektur → demo phase → quality →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▸  </a:t>
            </a:r>
            <a:r>
              <a:rPr sz="1250" b="1">
                <a:solidFill>
                  <a:srgbClr val="0F172A"/>
                </a:solidFill>
                <a:latin typeface="Calibri"/>
              </a:rPr>
              <a:t>Blok A — Konsep &amp; Arsitektur (sl 3–6)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Visi DISCOVER→ACT, stack Laravel 13 + Tailwind 4, struktur kode, repo GitHub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▸  </a:t>
            </a:r>
            <a:r>
              <a:rPr sz="1250" b="1">
                <a:solidFill>
                  <a:srgbClr val="0F172A"/>
                </a:solidFill>
                <a:latin typeface="Calibri"/>
              </a:rPr>
              <a:t>Blok B — Demo Phase 1–4 (sl 7–11)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Home, Bookshelf B01–B10, Reader Mode, Governance, Services/Systems — desktop + mobile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▸  </a:t>
            </a:r>
            <a:r>
              <a:rPr sz="1250" b="1">
                <a:solidFill>
                  <a:srgbClr val="0F172A"/>
                </a:solidFill>
                <a:latin typeface="Calibri"/>
              </a:rPr>
              <a:t>Blok C — Intelligence Phase 5 (sl 12–14)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Universal Search, Ask YPL + Gemini fallback, Recommendation O(1)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▸  </a:t>
            </a:r>
            <a:r>
              <a:rPr sz="1250" b="1">
                <a:solidFill>
                  <a:srgbClr val="0F172A"/>
                </a:solidFill>
                <a:latin typeface="Calibri"/>
              </a:rPr>
              <a:t>Blok D — Quality &amp; Deploy (sl 15–16)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Roles/security visibleTo, ~90 tests + Pint, InfinityFree + batasan 9 MB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▸  </a:t>
            </a:r>
            <a:r>
              <a:rPr sz="1250" b="1">
                <a:solidFill>
                  <a:srgbClr val="0F172A"/>
                </a:solidFill>
                <a:latin typeface="Calibri"/>
              </a:rPr>
              <a:t>Blok E — Status &amp; Diskusi (sl 17–18)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Tabel RAG jujur, sisa kerja, roadmap Q4, keputusan prioritas Phase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02 — VISI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Bukan Sekadar Repo PDF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Digital Knowledge, Governance &amp; Community Platform — blueprint 21 BAB (BAB 1–21)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DISCOVER → KNOW → UNDERSTAND → ACT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Prinsip panduan IA: temukan → ketahui → pahami → bertindak. Semua fitur dipetakan ke 4 tahap ini.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Library Mode vs Reader Mode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Discovery (bookshelf, search, governance listing) vs baca imersif (2-hal desktop / 1-hal mobile, flip 550ms).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Dua janji teknis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Permission-aware by default (visibleTo di semua query) + sitasi sumber (Ask/Search selalu tunjuk dokumen).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Contoh nyata di app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Home → /perpustakaan → /baca/{slug} → /governance/{slug} → /tanya — satu benang merah.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28800"/>
            <a:ext cx="3657600" cy="4114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10312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8102E"/>
                </a:solidFill>
              </a:rPr>
              <a:t>● </a:t>
            </a:r>
            <a:r>
              <a:rPr sz="1100" b="1">
                <a:solidFill>
                  <a:srgbClr val="0F172A"/>
                </a:solidFill>
                <a:latin typeface="Calibri"/>
              </a:rPr>
              <a:t>DISCOVER — Home, Library,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01752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8102E"/>
                </a:solidFill>
              </a:rPr>
              <a:t>● </a:t>
            </a:r>
            <a:r>
              <a:rPr sz="1100" b="1">
                <a:solidFill>
                  <a:srgbClr val="0F172A"/>
                </a:solidFill>
                <a:latin typeface="Calibri"/>
              </a:rPr>
              <a:t>KNOW — Detail, Passport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93192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8102E"/>
                </a:solidFill>
              </a:rPr>
              <a:t>● </a:t>
            </a:r>
            <a:r>
              <a:rPr sz="1100" b="1">
                <a:solidFill>
                  <a:srgbClr val="0F172A"/>
                </a:solidFill>
                <a:latin typeface="Calibri"/>
              </a:rPr>
              <a:t>UNDERSTAND — Reader, Ask YPL,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84632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8102E"/>
                </a:solidFill>
              </a:rPr>
              <a:t>● </a:t>
            </a:r>
            <a:r>
              <a:rPr sz="1100" b="1">
                <a:solidFill>
                  <a:srgbClr val="0F172A"/>
                </a:solidFill>
                <a:latin typeface="Calibri"/>
              </a:rPr>
              <a:t>ACT — Services, Systems, Odoo*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03 — ARSITEKTUR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Tech Stack Terverifikasi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Laravel 13.33 • PHP 8.5.8 • Tailwind 4 + Vite 8 • SQLite/MySQL • DomPDF • HTMLPurifier • PHPUnit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651760" cy="3108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A1F4D"/>
                </a:solidFill>
                <a:latin typeface="Calibri"/>
              </a:rPr>
              <a:t>Backend</a:t>
            </a:r>
          </a:p>
          <a:p>
            <a:r>
              <a:rPr sz="1100">
                <a:solidFill>
                  <a:srgbClr val="0F172A"/>
                </a:solidFill>
                <a:latin typeface="Calibri"/>
              </a:rPr>
              <a:t>Laravel 13.33
PHP ^8.3 (jalan 8.5.8)
Blade + Eloquent
Queue sync (tanpa worker)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651760" cy="3108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A1F4D"/>
                </a:solidFill>
                <a:latin typeface="Calibri"/>
              </a:rPr>
              <a:t>Frontend</a:t>
            </a:r>
          </a:p>
          <a:p>
            <a:r>
              <a:rPr sz="1100">
                <a:solidFill>
                  <a:srgbClr val="0F172A"/>
                </a:solidFill>
                <a:latin typeface="Calibri"/>
              </a:rPr>
              <a:t>Tailwind 4 + Vite 8
Blade components
Reader flip 550ms
Reduced-motion aware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2651760" cy="3108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A1F4D"/>
                </a:solidFill>
                <a:latin typeface="Calibri"/>
              </a:rPr>
              <a:t>Data &amp; AI</a:t>
            </a:r>
          </a:p>
          <a:p>
            <a:r>
              <a:rPr sz="1100">
                <a:solidFill>
                  <a:srgbClr val="0F172A"/>
                </a:solidFill>
                <a:latin typeface="Calibri"/>
              </a:rPr>
              <a:t>SQLite dev / MySQL prod
FTS triggers
AskYpl + Gemini 3.8-flash
Fallback ekstraktif jujur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920240"/>
            <a:ext cx="2651760" cy="3108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A1F4D"/>
                </a:solidFill>
                <a:latin typeface="Calibri"/>
              </a:rPr>
              <a:t>Quality</a:t>
            </a:r>
          </a:p>
          <a:p>
            <a:r>
              <a:rPr sz="1100">
                <a:solidFill>
                  <a:srgbClr val="0F172A"/>
                </a:solidFill>
                <a:latin typeface="Calibri"/>
              </a:rPr>
              <a:t>PHPUnit 12 (~90 tests)
Pint bersih
Boost MCP
35 commits 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Infra: InfinityFree shared hosting — tanpa SSH/cron/worker. Upload PDF ≤9 MB. Route sekali-pakai /deploy/{secret} lalu HAPUS.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04 — STRUKTUR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Struktur Kode &amp; Data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~11.500 LOC PHP • 16 Models • 19 Controllers • 7 Services • 22 migrations • ~70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app/Models (16)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Document, Category, DocumentRelation, DocumentVersion, System, Role, ServiceRequest, Bookmark, Like, dsb.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app/Http/Controllers (19)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Home, Library, Reader, Governance, Search, Ask, Document, Staff, Admin, SuperAdmin, dsb.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app/Services (7)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AskYpl, RecommendationEngine, ImpactMap, GeminiLlm, HtmlSanitizer, DocumentFiles, WaNumber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routes/web.php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Public (/, /perpustakaan, /governance, /cari, /tanya) • auth • staff/ • admin/ • sa/ + throttle tiers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database (22)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users, documents+FTS, categories B01–B10, relations, versions+snapshot, systems, roles, service_requests, dsb.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2320" y="1788800"/>
            <a:ext cx="3737600" cy="337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ktop-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31720"/>
            <a:ext cx="3657600" cy="2286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132320" y="5166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Repo: lansilvester/YPL-Document-Manager — main, 35 commits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05 — REPOSITORY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GitHub — YPL-Document-Manager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github.com/lansilvester/YPL-Document-Manager • Public • PHP 54.7% / Blade 45.1% • 1 contributor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640" y="1788800"/>
            <a:ext cx="11144240" cy="428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828800"/>
            <a:ext cx="6729984" cy="420624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Commit terbaru (11 Okt): feat(bab12) graf knowledge node-link 2-hop + permission-aware — 13 jam lalu • 35 commits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06 — PHASE 1 FOUNDATION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Home — Library Mode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Hero → /cari • 6 quick actions • Explore 4 koleksi • What's New • YPL Today (deadline review nyata)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640" y="1880240"/>
            <a:ext cx="794384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1920240"/>
            <a:ext cx="629107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738240" y="1880240"/>
            <a:ext cx="273176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678" y="1920240"/>
            <a:ext cx="181688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Desktop 1440px — hero + SAYA INGIN… + 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58978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Mobile 390px — responsif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07 — PHASE 2 LIVING BOOKS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Bookshelf B01–B10 3D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Filter: handbook/governance/academic/boarding/staff/parent/public • Book detail: cover, TOC, Open Book, Bookmark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640" y="1880240"/>
            <a:ext cx="794384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1920240"/>
            <a:ext cx="629107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738240" y="1880240"/>
            <a:ext cx="273176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678" y="1920240"/>
            <a:ext cx="181688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Desktop — 10 buku B01 Ketentuan Umum … B10 Institusi Mitra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58978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Mobile — grid 2 kolom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08 — PHASE 2 READER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Reader Mode Imersif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/baca/{slug} • 2-hal desktop / 1-hal mobile • flip 550ms • TOC drawer • search-in-book • persist posisi &amp; prefs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640" y="1880240"/>
            <a:ext cx="794384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r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1920240"/>
            <a:ext cx="629107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738240" y="1880240"/>
            <a:ext cx="273176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r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678" y="1920240"/>
            <a:ext cx="181688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Desktop — toolbar: Contents/Search/Bookmark/Aa/Ask YPL/counter/Reading % + keyboard+swipe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58978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Mobile — 1 halaman + panel Rekomendasi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09 — PHASE 3 GOVERNANCE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Document Control (BAB 13)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Passport • lifecycle draft→archived • versions+snapshot • impact map 2-hop • ekspor CSV + throttle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640" y="1880240"/>
            <a:ext cx="684656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20240"/>
            <a:ext cx="629107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589520" y="19202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1">
                <a:solidFill>
                  <a:srgbClr val="C8102E"/>
                </a:solidFill>
                <a:latin typeface="Calibri"/>
              </a:rPr>
              <a:t>▸  </a:t>
            </a:r>
            <a:r>
              <a:rPr sz="1050" b="1">
                <a:solidFill>
                  <a:srgbClr val="0F172A"/>
                </a:solidFill>
                <a:latin typeface="Calibri"/>
              </a:rPr>
              <a:t>Passport akurat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DOC ID, tipe, owner, approver, PIC, effective/review, klasifikasi, status, audience, unit — stacked di detail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1">
                <a:solidFill>
                  <a:srgbClr val="C8102E"/>
                </a:solidFill>
                <a:latin typeface="Calibri"/>
              </a:rPr>
              <a:t>▸  </a:t>
            </a:r>
            <a:r>
              <a:rPr sz="1050" b="1">
                <a:solidFill>
                  <a:srgbClr val="0F172A"/>
                </a:solidFill>
                <a:latin typeface="Calibri"/>
              </a:rPr>
              <a:t>Lifecycle + snapshot (8 Okt)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draft→review→approval→active→review-due→archived + snapshot isi per versi + otomasi review-due terjadwal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1">
                <a:solidFill>
                  <a:srgbClr val="C8102E"/>
                </a:solidFill>
                <a:latin typeface="Calibri"/>
              </a:rPr>
              <a:t>▸  </a:t>
            </a:r>
            <a:r>
              <a:rPr sz="1050" b="1">
                <a:solidFill>
                  <a:srgbClr val="0F172A"/>
                </a:solidFill>
                <a:latin typeface="Calibri"/>
              </a:rPr>
              <a:t>Impact Map 2-hop (11 Okt)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Graf node-link permission-aware: Handbook→Policy→SOP→Form→PIC→System, hormati visibleTo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50" b="1">
                <a:solidFill>
                  <a:srgbClr val="C8102E"/>
                </a:solidFill>
                <a:latin typeface="Calibri"/>
              </a:rPr>
              <a:t>▸  </a:t>
            </a:r>
            <a:r>
              <a:rPr sz="1050" b="1">
                <a:solidFill>
                  <a:srgbClr val="0F172A"/>
                </a:solidFill>
                <a:latin typeface="Calibri"/>
              </a:rPr>
              <a:t>Listing + CSV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Filter tipe/status/audience/unit • kartu statistik tertaut • Ekspor CSV nyata + throttle:sensitive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10 — PHASE 4 SERVICES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Layanan &amp; Sistem Operasional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Katalog 8 layanan 'Saya ingin…' • workflow pending→approved/rejected→done • registri 8 sistem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640" y="1880240"/>
            <a:ext cx="684656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sys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20240"/>
            <a:ext cx="629107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589520" y="19202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Services /layanan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Pengajuan + Permintaan Saya + kelola/putusan staff — teruji end-to-end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Systems /sistem (8)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Odoo, Akademik, Asrama, HR, Keuangan, Fleet, Maintenance, ICT + dokumen tertaut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Relasi hidup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Dokumen ↔ Sistem via document_relations — diketik staff, tampil di detail + impact map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 b="1">
                <a:solidFill>
                  <a:srgbClr val="0F172A"/>
                </a:solidFill>
                <a:latin typeface="Calibri"/>
              </a:rPr>
              <a:t>Sisa Phase 4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Integrasi Odoo (Phase 6) — fondasi tipe service_requests sudah siap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11 — PHASE 5 INTELLIGENCE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Universal Search /cari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Dokumen per-tipe + badge versi-status • Layanan/aksi Start → • Orang (login) • hormati visibleTo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640" y="1880240"/>
            <a:ext cx="794384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1920240"/>
            <a:ext cx="629107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738240" y="1880240"/>
            <a:ext cx="273176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678" y="1920240"/>
            <a:ext cx="181688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Desktop — placeholder: Dokumen, layanan, FAQ, agenda, atau orang…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58978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Mobile — full-width search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12 — PHASE 5 INTELLIGENCE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Ask YPL /tanya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Ekstraktif bersitasi + Gemini grounding • fallback jujur saat timeout • audit activity_logs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640" y="1880240"/>
            <a:ext cx="794384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1920240"/>
            <a:ext cx="629107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738240" y="1880240"/>
            <a:ext cx="2731760" cy="401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678" y="1920240"/>
            <a:ext cx="1816882" cy="39319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Desktop — contoh: Bagaimana cara mengajukan purchase request? + chips saran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58978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Mobile — input + tombol Tanya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13 — PHASE 5 INTELLIGENCE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Recommendation Engine O(1)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6 sinyal bobot 100 • forDocument (~6 query) &amp; forUser (~12) • N+1 eliminated • privacy teruji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0F172A"/>
                </a:solidFill>
                <a:latin typeface="Calibri"/>
              </a:rPr>
              <a:t>Sinyal (total 100)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Relasi eksplisit 30 • kategori 20 • tag overlap 20 • penulis 10 • co-reading 10 • sistem sama 10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0F172A"/>
                </a:solidFill>
                <a:latin typeface="Calibri"/>
              </a:rPr>
              <a:t>Optimasi: 600+ → 6 query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Pre-compute maps (relations, coreaders) + eager load category/tags/user — scoring di memori, zero query per kandidat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0F172A"/>
                </a:solidFill>
                <a:latin typeface="Calibri"/>
              </a:rPr>
              <a:t>Dua mode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forDocument($doc,$user) di detail + Reader drawer kanan • forUser($user) dari riwayat baca + bookmark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0F172A"/>
                </a:solidFill>
                <a:latin typeface="Calibri"/>
              </a:rPr>
              <a:t>UI + Privacy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Panel REKOMENDASI UNTUK ANDA ganti 'Dokumen Sejenis' + badge alasan + views • visibleTo: private orang lain tak bocor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920240"/>
            <a:ext cx="3383280" cy="4114800"/>
          </a:xfrm>
          <a:prstGeom prst="round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QUERY COUNT</a:t>
            </a:r>
          </a:p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~600+  →  ~6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N+1 eliminated</a:t>
            </a:r>
          </a:p>
          <a:p>
            <a:pPr algn="ctr"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forDocument: 6 fixed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forUser: 12 fixed</a:t>
            </a:r>
          </a:p>
          <a:p>
            <a:pPr algn="ctr"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Panel: detail + 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14 — SECURITY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Auth, Roles &amp; Keamanan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4 peran + definisi role-aware • visibleTo everywhere • throttle • HTMLPurifier • ≤9 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Peran &amp; otoritas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anggota (baca+unggah+ajukan) • staff (+kelola+putusan) • admin (+kategori/pengguna) • superadmin (settings+roles) • registrasi→anggota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visibleTo() di semua query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Tamu=publik • anggota=+restricted+milik • admin=semua — search, ask, rekomendasi, graph, governance semua hormati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Throttle tiers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login/register/sensitive/uploads/interactions/deploy — cegah brute + spam upload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 b="1">
                <a:solidFill>
                  <a:srgbClr val="0F172A"/>
                </a:solidFill>
                <a:latin typeface="Calibri"/>
              </a:rPr>
              <a:t>Sanitasi &amp; validasi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HTMLPurifier untuk editor • PDF ≤9 MB • WA +62 normalisasi • reset password token • avatar storage/private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15 — QUALITY &amp; DEPLOY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Testing Hijau &amp; Deploy InfinityFree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~90 tests (11 file) • Pint bersih • CI laravel.yml • /deploy sekali-pakai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0F172A"/>
                </a:solidFill>
                <a:latin typeface="Calibri"/>
              </a:rPr>
              <a:t>PHPUnit 12 — 11 file Feature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Foundation, Reader, Governance, Knowledge, Graph, Ask, Search, Recommendation, Services, Role, Lokon — contoh: lifecycle penuh, private-tak-bocor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0F172A"/>
                </a:solidFill>
                <a:latin typeface="Calibri"/>
              </a:rPr>
              <a:t>Pint + Boost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vendor/bin/pint --dirty — gaya konsisten • Boost MCP: schema/query/logs/search-docs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0F172A"/>
                </a:solidFill>
                <a:latin typeface="Calibri"/>
              </a:rPr>
              <a:t>Deploy tanpa SSH (DEPLOY.md)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public/→htdocs, app sejajar, storage 775, MySQL sql312, buka /deploy/SECRET → migrate+seed+prune+SA → HAPUS rute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0F172A"/>
                </a:solidFill>
                <a:latin typeface="Calibri"/>
              </a:rPr>
              <a:t>Batasan jujur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9 MB (server ±10 MB) • tanpa worker/cron (sync) • 15 PDF besar tak ikut • symlink avatar fallback via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8102E"/>
                </a:solidFill>
                <a:latin typeface="Calibri"/>
              </a:defRPr>
            </a:pPr>
            <a:r>
              <a:t>16 — STATUS JUJUR</a:t>
            </a:r>
          </a:p>
          <a:p>
            <a:pPr>
              <a:spcAft>
                <a:spcPts val="200"/>
              </a:spcAft>
              <a:defRPr sz="3000" b="1">
                <a:solidFill>
                  <a:srgbClr val="0A1F4D"/>
                </a:solidFill>
                <a:latin typeface="Calibri"/>
              </a:defRPr>
            </a:pPr>
            <a:r>
              <a:t>Progress per Phase (Blueprint BAB 18)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✅✅✅✅ 🔄 ⬜ — baseline 8 Okt: 73 tests lolos, kini ~90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943600" cy="58521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Calibri"/>
              </a:rPr>
              <a:t>Phase 1 Foundation (IA, taxonomy, Library)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920240"/>
            <a:ext cx="2011680" cy="58521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99339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A1F4D"/>
                </a:solidFill>
                <a:latin typeface="Calibri"/>
              </a:rPr>
              <a:t>✅ Selesai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920240"/>
            <a:ext cx="2743200" cy="58521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993392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Calibri"/>
              </a:rPr>
              <a:t>Home BAB5 + 16 kategori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78608"/>
            <a:ext cx="59436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Calibri"/>
              </a:rPr>
              <a:t>Phase 2 Living Books (B01–B10, Reader)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78608"/>
            <a:ext cx="201168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651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A1F4D"/>
                </a:solidFill>
                <a:latin typeface="Calibri"/>
              </a:rPr>
              <a:t>✅ Selesai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578608"/>
            <a:ext cx="27432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Calibri"/>
              </a:rPr>
              <a:t>Bookshelf 3D + Reader 2/1-hal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36976"/>
            <a:ext cx="5943600" cy="58521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10128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Calibri"/>
              </a:rPr>
              <a:t>Phase 3 Governance (passport, lifecycle)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236976"/>
            <a:ext cx="2011680" cy="58521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310128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A1F4D"/>
                </a:solidFill>
                <a:latin typeface="Calibri"/>
              </a:rPr>
              <a:t>✅ Selesai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3236976"/>
            <a:ext cx="2743200" cy="58521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3101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Calibri"/>
              </a:rPr>
              <a:t>Snapshot 8 Okt + graph 2-hop 11 Okt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95344"/>
            <a:ext cx="59436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68496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Calibri"/>
              </a:rPr>
              <a:t>Phase 4 Services (forms, workflow)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3895344"/>
            <a:ext cx="201168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968496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A1F4D"/>
                </a:solidFill>
                <a:latin typeface="Calibri"/>
              </a:rPr>
              <a:t>✅ Selesai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895344"/>
            <a:ext cx="27432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3968496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Calibri"/>
              </a:rPr>
              <a:t>8 layanan — kurang Odoo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53712"/>
            <a:ext cx="5943600" cy="58521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626864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Calibri"/>
              </a:rPr>
              <a:t>Phase 5 Intelligence (search, Ask, reco)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4553712"/>
            <a:ext cx="2011680" cy="58521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4626864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A1F4D"/>
                </a:solidFill>
                <a:latin typeface="Calibri"/>
              </a:rPr>
              <a:t>🔄 Berjalan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4553712"/>
            <a:ext cx="2743200" cy="58521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4626864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Calibri"/>
              </a:rPr>
              <a:t>Search+Ask v1+Reco selesai; sisa graph visual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212080"/>
            <a:ext cx="59436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285232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Calibri"/>
              </a:rPr>
              <a:t>Phase 6 Ecosystem (Odoo, dash, analitik)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5212080"/>
            <a:ext cx="201168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52852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A1F4D"/>
                </a:solidFill>
                <a:latin typeface="Calibri"/>
              </a:rPr>
              <a:t>⬜ Belum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5212080"/>
            <a:ext cx="27432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5285232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Calibri"/>
              </a:rPr>
              <a:t>Fondasi peran+sistem siap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31352" y="0"/>
            <a:ext cx="3657600" cy="128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 — NEXT</a:t>
            </a:r>
          </a:p>
          <a:p>
            <a:pPr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Roadmap &amp; Diskusi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Q4 2026: graph visual → role dashboards → analytics → Odoo • Hardening: cabut key + hapus /deploy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FFFFFF"/>
                </a:solidFill>
                <a:latin typeface="Calibri"/>
              </a:rPr>
              <a:t>Pendek (1–2 mgg)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Graph visual full • revision history UI • review-due cron • fix bug faqs di /cari?q=…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FFFFFF"/>
                </a:solidFill>
                <a:latin typeface="Calibri"/>
              </a:rPr>
              <a:t>Menengah (1 bln)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5 role dashboards (Siswa/Ortu/Guru/Karyawan/Pimpinan) • community/calendar nyata • analytics dari activity_logs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FFFFFF"/>
                </a:solidFill>
                <a:latin typeface="Calibri"/>
              </a:rPr>
              <a:t>Panjang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Odoo integration terakhir — tipe service_requests sudah kompatibel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▸  </a:t>
            </a:r>
            <a:r>
              <a:rPr sz="1150" b="1">
                <a:solidFill>
                  <a:srgbClr val="FFFFFF"/>
                </a:solidFill>
                <a:latin typeface="Calibri"/>
              </a:rPr>
              <a:t>Demo &amp; keputusan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Live: / • /perpustakaan • /baca • /governance • /cari • /tanya  •  Tanya: prioritas Phase 6 apa dulu?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75200" y="1788800"/>
            <a:ext cx="4011920" cy="318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54555"/>
            <a:ext cx="3931920" cy="245745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0" y="49834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github.com/lansilvester/YPL-Document-Manager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39496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Terima kasih — diskusi &amp; prioritas?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Calibri"/>
              </a:defRPr>
            </a:pPr>
            <a:r>
              <a:t>LOSNITO Document  •  YPL Smart Digital Library  •  Progress Report Teknis  •  12 Okt 2026     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