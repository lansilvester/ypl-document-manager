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51560"/>
            <a:ext cx="1097280" cy="64008"/>
          </a:xfrm>
          <a:prstGeom prst="rect">
            <a:avLst/>
          </a:prstGeom>
          <a:solidFill>
            <a:srgbClr val="C9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B7C0"/>
                </a:solidFill>
              </a:rPr>
              <a:t>YAYASAN PENDIDIKAN LOKON · LAPORAN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YPL Smart Digital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6D6D6"/>
                </a:solidFill>
              </a:rPr>
              <a:t>Laporan menyeluruh: progress, fitur, kesesuaian briefing 21 BAB, UI/UX, UML, dan business process.</a:t>
            </a:r>
          </a:p>
          <a:p>
            <a:pPr algn="l"/>
            <a:r>
              <a:rPr sz="1600" b="0">
                <a:solidFill>
                  <a:srgbClr val="D6D6D6"/>
                </a:solidFill>
              </a:rPr>
              <a:t>Basis data MySQL · 176/176 test hijau · 21 BAB briefing</a:t>
            </a:r>
          </a:p>
          <a:p>
            <a:pPr algn="l"/>
            <a:r>
              <a:rPr sz="1600" b="0">
                <a:solidFill>
                  <a:srgbClr val="D6D6D6"/>
                </a:solidFill>
              </a:rPr>
              <a:t>13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01 · RINGKASAN EKSEKUTIF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Angka Kunci Saat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176/176 automated test hijau (11 file test fitur + 1 unit) — garansi regresi tiap rilis.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32 tabel MySQL (utf8mb4) + index FULLTEXT, FTS5 SQLite untuk suite, trigger trigger-safe.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21 BAB briefing: 19 selesai penuh, 1 tersisa parsial (BAB 16 Odoo), kriteria 12/12 acceptance hijau.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Stack: Laravel + Blade + Tailwind, PDF.js reader, MySQL production / SQLite test.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Keamanan: 1 superadmin, password default dirotasi, dump ber-hash keluar repo, rute deploy dihapus.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02 · KONSEP INTI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02F80"/>
                </a:solidFill>
              </a:rPr>
              <a:t>DISCOVER → KNOW → UNDERSTAND → 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01168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DISCOVER
Cari, koleksi,
rekomendasi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912" y="2633472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2377440"/>
            <a:ext cx="201168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KNOW
Baca imersif
Reader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9512" y="2633472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377440"/>
            <a:ext cx="201168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UNDERSTAND
Graf relasi,
Ask + sitasi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2633472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377440"/>
            <a:ext cx="201168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ACT
Layanan,
kalender, unduhan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Setiap fitur memetakan ke satu tahap alur. Tidak ada fitur yatim: pencarian bermuara ke bacaan, bacaan ke pemahaman relasi, pemahaman ke tindakan layanan.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03 · KESESUAIAN BRIEFING 21 BAB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BAB 1–11: Status Implementasi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56692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BAB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Topik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Ringkasan Eksekutif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Acuan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Design Principles (8)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Hidup di kode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Information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8 area + rute Inggris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Dua Mode (Library/Reader)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Bookshelf + reader imersif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Master Homepage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Hero, YPL Today, role-aware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10 Handbook B01–B10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Living books + CRUD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Knowledge Model (19 atribut)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+ Event/FAQ first-class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Reader Engine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Flip, TOC, thumbnail, notes, 3 tema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Universal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5 grup + panel AI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Services (8 tipe)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Workflow hingga done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Role-Aware +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Resolver + UNTUK ANDA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03 · KESESUAIAN BRIEFING 21 BAB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BAB 12–21: Status Implementasi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114800"/>
                <a:gridCol w="56692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BAB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Topik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Knowledge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Graf 2-hop + peta di Library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Governance Lifecycle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6 status, approval, versi, notifikasi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Ask YPL / AI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Scope dokumen + explain terstruktur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Visual &amp; Interaction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Token, tipografi, serif baca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Technical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⚠️ Odoo belum (sistem tercatat)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Sitemap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+ Help Center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Prioritas P1–P6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P6 minus Odoo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Prompt Plan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Prompt 9 via templat tunggal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Acceptance 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Kriteria 12 opsi A live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E293B"/>
                          </a:solidFill>
                        </a:rPr>
                        <a:t>Penutup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652E"/>
                          </a:solidFill>
                        </a:rPr>
                        <a:t>✅ Acuan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04 · ARSITEKTUR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Lapisan Sistem (BAB 16)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28600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BROWSER
Blade + Tailwind
PDF.js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99232" y="2267712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28600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
Controllers
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8152" y="2267712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28600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DOMAIN
Models +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2267712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011680"/>
            <a:ext cx="228600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
MySQL + 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File PDF di disk private — selalu lewat route berotorisasi, tanpa URL langsung.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Odoo diparkir sebagai simpul systems; integrasi API tahap akhir (read-only dulu, queue, degradasi anggun).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Test: SQLite :memory: (111+62 test); MySQL diverifikasi migrasi-nol + FULLTEXT + smoke 16/16.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05 · FITUR — LIBRARY &amp; READER (BAB 4–8)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Perpustakaan Hidup + Ruang Baca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Digital bookshelf B01–B10, 7 koleksi, filter, rekomendasi personal anti-bocor privat.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Reader: two-page desktop / single mobile, flip 550ms + reduced-motion, TOC, thumbnail lazy, search-in-book, jump, bookmark, notes per halaman, tema Terang/Paper/Gelap.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Ask YPL inline di Reader berkeskonteks dokumen; posisi baca autosave.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06 · FITUR — GOVERNANCE (BAB 13 + KRITERIA 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Siklus Hidup Dokumen Resmi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Lifecycle DRAFT → REVIEW → APPROVAL → ACTIVE → REVIEW DUE → ARCHIVED + approval workflow + versioning snapshot + audit trail.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Document Passport: owner, approver, PIC, tanggal berlaku/tinjau, riwayat versi, related knowledge.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Kriteria 12 opsi A live: publik hanya versi berlaku; staff memantau draf; filter internal disembunyikan dari tamu; retensi arsip + notifikasi review-due.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07 · FITUR — SERVICES + HELP (BAB 10/17)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Pola 'Saya Ingin…' Tanpa Paham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8 tipe layanan (transportasi, cuti, maintenance, izin siswa, purchase, event, insiden, submission) + workflow pending → done + My Requests.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Help Center /help: FAQ per kategori (accordion), pintu ke layanan dan Ask YPL; visibilitas internal/login.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08 · FITUR — COMMUNITY, CALENDAR,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Menu Nyata Berbasis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Community: unit + hitung, peran, direktori orang (login saja, tanpa email), FAQ komunitas.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Calendar: 5 kategori briefing + YPL Today (jatuh tempo tinjauan); panel kelola agenda untuk staff.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Insight: etalase publik (statistik + dokumen terbaru + koleksi publik). URL Inggris konsisten.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09 · FITUR — ASK YPL + GRAPH +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Kecerdasan Terhubung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Ask YPL: ekstraktif + sitasi, permission-aware, scope per-dokumen (0 query), mode explain terstruktur (ringkasan/audience/berlaku/perubahan/terkait).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Knowledge graph 2-hop (dokumen/sistem/agenda/FAQ/PIC) + peta di Library; relasi tepat-satu-target (422).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Role dashboard: satu templat, urutan + kartu disaring scope peran, blok UNTUK ANDA; analytics staff (agregat berindeks, tanpa N+1).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10 · KEAMANAN &amp;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Yang Sudah Diamankan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Otorisasi terpusat: isVisibleTo + scopeVisibleTo paritas (detail, stream, unduh, reader, ask, search, relasi, rekomendasi).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1 superadmin + password default dirotasi; dump ber-hash keluar repo; kunci LLM testing dicabut; rute /deploy dihapus.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MySQL: user lokal saja, FULLTEXT terverifikasi, migrasi-dari-nol hijau; suite SQLite hijau; smoke 16/16.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Sisa di server: APP_DEBUG=false, APP_KEY, kredensial, storage:link, backup terjadwal, user DB khusus.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11 · DESIGN SYSTEM UI/UX (BAB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Bahasa Visual Tunggal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Token: --ypl-navy #002F80, --ypl-red #C90018, --ypl-* menyeluruh; utilitas .grad-navy/.grad-red/.brand-line (test melarang duplikat inline).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Tipografi kanonis: .page-title (24→30px), .page-eyebrow, .section-label; body baca serif Georgia, UI sans.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Kartu rounded-2xl, signature line biru-merah, motion halus (card-hover, flip), kontras + fokus aksesibel.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12 · ANTARMUKA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F80"/>
                </a:solidFill>
              </a:rPr>
              <a:t>BERANDA — hero foto + YPL Today</a:t>
            </a:r>
          </a:p>
        </p:txBody>
      </p:sp>
      <p:pic>
        <p:nvPicPr>
          <p:cNvPr id="4" name="Picture 3" descr="desktop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12 · ANTARMUKA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F80"/>
                </a:solidFill>
              </a:rPr>
              <a:t>GOVERNANCE — passport + lifecycle</a:t>
            </a:r>
          </a:p>
        </p:txBody>
      </p:sp>
      <p:pic>
        <p:nvPicPr>
          <p:cNvPr id="4" name="Picture 3" descr="desktop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12 · ANTARMUKA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F80"/>
                </a:solidFill>
              </a:rPr>
              <a:t>READER — two-page + toolbar</a:t>
            </a:r>
          </a:p>
        </p:txBody>
      </p:sp>
      <p:pic>
        <p:nvPicPr>
          <p:cNvPr id="4" name="Picture 3" descr="desktop-r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13 · UML —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F80"/>
                </a:solidFill>
              </a:rPr>
              <a:t>Aktor vs Fungsionalitas Inti</a:t>
            </a:r>
          </a:p>
        </p:txBody>
      </p:sp>
      <p:pic>
        <p:nvPicPr>
          <p:cNvPr id="4" name="Picture 3" descr="use-cas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14 · UML — ERD (RINGKAS)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32 Tabel: Inti Domain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6634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Tabel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Kolom Kunci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Relasi</a:t>
                      </a:r>
                    </a:p>
                  </a:txBody>
                  <a:tcPr>
                    <a:solidFill>
                      <a:srgbClr val="002F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slug, doc_type, status, visibility, 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owner, approver, PIC, kategori; pusat semua relasi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document_relations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related/event/faq/system_id (tepat satu)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dokumen↔dokumen/sistem/agenda/FAQ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document_versions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version, from/to_status, 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riwayat per dokumen (cascade)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events / faqs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slug, visibility, kategori/urutan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simpul kalender &amp; bantuan + relasi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users /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role↔slug (logis), scopes, homepage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hak + personalisasi (tanpa FK)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service_requests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type, status, handler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pemohon + staff pemroses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reading_* (pos/pref/notes)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user+document, halaman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milik user (cascade)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activity_logs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action, meta, index aksi+tanggal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sumber analytics (prune 180 hari)</a:t>
                      </a:r>
                    </a:p>
                  </a:txBody>
                  <a:tcPr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15 · UML — DFD LEVEL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2F80"/>
                </a:solidFill>
              </a:rPr>
              <a:t>Aliran Data Konteks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1554480" cy="10058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TAMU / ANGGOTA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832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194560"/>
            <a:ext cx="1554480" cy="100584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STAFF /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237744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YPL SMART DIGITAL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194560"/>
            <a:ext cx="1463040" cy="1005840"/>
          </a:xfrm>
          <a:prstGeom prst="roundRect">
            <a:avLst/>
          </a:prstGeom>
          <a:solidFill>
            <a:srgbClr val="166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MySQL +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194560"/>
            <a:ext cx="1463040" cy="1005840"/>
          </a:xfrm>
          <a:prstGeom prst="roundRect">
            <a:avLst/>
          </a:prstGeom>
          <a:solidFill>
            <a:srgbClr val="166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ODOO (parkir)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881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Masuk: dokumen/layanan/pertanyaan; keluar: bacaan, jawaban bersitasi, status pengajuan, analytics.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Batas kepercayaan: tamu ↔ versi berlaku; staff ↔ draf internal; privat ↔ pemilik/admin.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16 · BUSINESS PROCESS —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2F80"/>
                </a:solidFill>
              </a:rPr>
              <a:t>DRAFT → REVIEW → APPROVAL → ACTIVE → REVIEW DUE → ARCHIVED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94560"/>
            <a:ext cx="150876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672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58568" y="2194560"/>
            <a:ext cx="150876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9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51375" y="2194560"/>
            <a:ext cx="150876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4183" y="2194560"/>
            <a:ext cx="150876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36992" y="2194560"/>
            <a:ext cx="150876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REVIEW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18904" y="2450591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C90018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9800" y="2194560"/>
            <a:ext cx="1508760" cy="1005840"/>
          </a:xfrm>
          <a:prstGeom prst="roundRect">
            <a:avLst/>
          </a:prstGeom>
          <a:solidFill>
            <a:srgbClr val="002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ARCHIVED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Tiap transisi berizin + tercatat (snapshot) + audit trail; review-due otomatis + notifikasi.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Layanan: pengajuan → pending → approved/rejected → done; terpantau di My Requests + analytics.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C90018"/>
                </a:solidFill>
              </a:rPr>
              <a:t>17 · SISA PEKERJAAN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02F80"/>
                </a:solidFill>
              </a:rPr>
              <a:t>Roadmap 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</a:rPr>
              <a:t>•  Odoo (BAB 16): discovery → read-only sync systems via queue → tulis bila perlu; degradasi anggun.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Server: values production, backup terjadwal, user DB khusus, rotasi Gemini, purge history (bila publik).</a:t>
            </a:r>
          </a:p>
          <a:p>
            <a:pPr algn="l"/>
            <a:r>
              <a:rPr sz="1300" b="0">
                <a:solidFill>
                  <a:srgbClr val="1E293B"/>
                </a:solidFill>
              </a:rPr>
              <a:t>•  Opsional: sub-tipe governance (Risk/Compliance), purge presentasi/ dari repo, suite MySQL (terbatas transaksi FTS).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51560"/>
            <a:ext cx="1097280" cy="64008"/>
          </a:xfrm>
          <a:prstGeom prst="rect">
            <a:avLst/>
          </a:prstGeom>
          <a:solidFill>
            <a:srgbClr val="C9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5B7C0"/>
                </a:solidFill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Siap Go-Live Bertahap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6D6D6"/>
                </a:solidFill>
              </a:rPr>
              <a:t>19/21 BAB selesai penuh · 12/12 acceptance · 176 test hijau · keamanan dikunci.</a:t>
            </a:r>
          </a:p>
          <a:p>
            <a:pPr algn="l"/>
            <a:r>
              <a:rPr sz="1600" b="0">
                <a:solidFill>
                  <a:srgbClr val="D6D6D6"/>
                </a:solidFill>
              </a:rPr>
              <a:t>Rekomendasi: deploy staging → UAT peran → production; Odoo setelah stabil.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