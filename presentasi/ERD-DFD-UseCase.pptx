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1C55"/>
              </a:gs>
              <a:gs pos="100000">
                <a:srgbClr val="002F8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463040" cy="82296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Perancangan Basis Data &amp; Aliran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600" b="1">
                <a:solidFill>
                  <a:srgbClr val="9FB4D8"/>
                </a:solidFill>
                <a:latin typeface="Calibri"/>
              </a:rPr>
              <a:t>ERD • DFD • Use Case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YPL Smart Digital Library — Lokon Dokumen Digital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Yayasan Pendidikan Lokon  ·  Tomohon, Sulawesi Utara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B4D8"/>
                </a:solidFill>
                <a:latin typeface="Calibri"/>
              </a:rPr>
              <a:t>Dokumen ini disusun untuk keperluan presentasi akademik.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9FB4D8"/>
                </a:solidFill>
                <a:latin typeface="Calibri"/>
              </a:rPr>
              <a:t>PENGANTAR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Ringkasan Sistem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6118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52704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527048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2F80"/>
                </a:solidFill>
                <a:latin typeface="Calibri"/>
              </a:rPr>
              <a:t>Perpustakaan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29384"/>
            <a:ext cx="2514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Dokumen PDF &amp; Living Books dengan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kategori, tag, dan versi terkontrol.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325880"/>
            <a:ext cx="36118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52704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1527048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2F80"/>
                </a:solidFill>
                <a:latin typeface="Calibri"/>
              </a:rPr>
              <a:t>Connected 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1929384"/>
            <a:ext cx="2514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Relasi antar dokumen, sistem, agenda,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dan FAQ membentuk knowledge graph.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325880"/>
            <a:ext cx="36118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4" y="152704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🏛️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1527048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2F80"/>
                </a:solidFill>
                <a:latin typeface="Calibri"/>
              </a:rPr>
              <a:t>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1929384"/>
            <a:ext cx="2514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Lifecycle dokumen: draft → review →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approval → active → archived.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154680"/>
            <a:ext cx="36118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335584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55848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2F80"/>
                </a:solidFill>
                <a:latin typeface="Calibri"/>
              </a:rPr>
              <a:t>Komunitas &amp; Peran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58184"/>
            <a:ext cx="2514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Anggota, Staff, Admin, Super Admin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dengan kontrol akses berlapis.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154680"/>
            <a:ext cx="36118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17136" y="335584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355848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2F80"/>
                </a:solidFill>
                <a:latin typeface="Calibri"/>
              </a:rPr>
              <a:t>Ask YPL &amp; Rekomendasi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758184"/>
            <a:ext cx="2514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Pencarian cerdas, tanya-jawab bersitasi,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dan rekomendasi dokumen.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3154680"/>
            <a:ext cx="361188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0184" y="3355848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3355848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02F80"/>
                </a:solidFill>
                <a:latin typeface="Calibri"/>
              </a:rPr>
              <a:t>Layanan &amp; Notifikasi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3758184"/>
            <a:ext cx="2514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Pengajuan layanan, notifikasi in-app,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dan analitik operasional.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Calibri"/>
              </a:rPr>
              <a:t>Stack: Laravel 12 · PHP 8.5 · MySQL · Blade + Tailwind CSS · Gemini LLM (opsional)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9FB4D8"/>
                </a:solidFill>
                <a:latin typeface="Calibri"/>
              </a:rPr>
              <a:t>ENTITY RELATIONSHIP DIAGRAM · 1/3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ERD — Identitas, Peran &amp; Pengguna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Titik pusat otorisasi: satu pengguna berperan, satu dokumen punya owner/approver/PIC.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926080" cy="384048"/>
          </a:xfrm>
          <a:prstGeom prst="rect">
            <a:avLst/>
          </a:prstGeom>
          <a:solidFill>
            <a:srgbClr val="002F80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84248"/>
            <a:ext cx="292608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984248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 (PK)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221991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59736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email  (UK)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697480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role  → roles.slug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935224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172968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ypl_verified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00200"/>
            <a:ext cx="29260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1984248"/>
            <a:ext cx="292608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1984248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 (PK)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2221991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slug  (UK)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2459736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2697480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2935224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scopes  (json)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3172968"/>
            <a:ext cx="2779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homepage  (json)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600200"/>
            <a:ext cx="384048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role_requests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984248"/>
            <a:ext cx="3840480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1984248"/>
            <a:ext cx="36941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 (PK)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5552" y="2221991"/>
            <a:ext cx="36941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user_id  (FK → users)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2459736"/>
            <a:ext cx="36941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requested_role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2697480"/>
            <a:ext cx="36941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2935224"/>
            <a:ext cx="36941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reviewed_by  (FK → users)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5552" y="3172968"/>
            <a:ext cx="36941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reason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4023360"/>
            <a:ext cx="35661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service_requests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4407408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3672" y="4407408"/>
            <a:ext cx="341985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 (PK)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33672" y="4645152"/>
            <a:ext cx="341985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user_id  (FK)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33672" y="4882896"/>
            <a:ext cx="341985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2" y="5120640"/>
            <a:ext cx="341985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3672" y="5358384"/>
            <a:ext cx="341985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handler_id  (FK → users)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474720" y="2651760"/>
            <a:ext cx="429768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0" y="2395728"/>
            <a:ext cx="26517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Calibri"/>
              </a:rPr>
              <a:t>1 : N  pengajuan peran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011680" y="3520440"/>
            <a:ext cx="105156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063240" y="3520440"/>
            <a:ext cx="0" cy="50292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063240" y="4023360"/>
            <a:ext cx="178308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103120" y="3703320"/>
            <a:ext cx="2743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Calibri"/>
              </a:rPr>
              <a:t>1 : N  pengajuan layanan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474720" y="2011680"/>
            <a:ext cx="68580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529584" y="1737360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Calibri"/>
              </a:rPr>
              <a:t>N : 1  slug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4023360"/>
            <a:ext cx="38404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73568" y="4160520"/>
            <a:ext cx="3566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002F80"/>
                </a:solidFill>
                <a:latin typeface="Calibri"/>
              </a:rPr>
              <a:t>KETERANGAN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73568" y="4480560"/>
            <a:ext cx="35661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PK  Primary Key      FK  Foreign Key      UK  Unique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→  arah relasi    1 : N  satu-ke-banyak</a:t>
            </a:r>
          </a:p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Peran disimpan sebagai slug (dinamis dari tabel roles).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9FB4D8"/>
                </a:solidFill>
                <a:latin typeface="Calibri"/>
              </a:rPr>
              <a:t>ENTITY RELATIONSHIP DIAGRAM · 2/3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ERD — Dokumen, Versi &amp; Knowledge Graph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Dokumen sebagai hub: kategori, tag, versi (audit), dan relasi ke sistem/agenda/FAQ.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301752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categories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56816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956816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 (PK)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94560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432304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slug  (UK)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670048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907792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collection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1572768"/>
            <a:ext cx="4206240" cy="384048"/>
          </a:xfrm>
          <a:prstGeom prst="rect">
            <a:avLst/>
          </a:prstGeom>
          <a:solidFill>
            <a:srgbClr val="002F80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39" y="1956816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0791" y="1956816"/>
            <a:ext cx="405993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 (PK)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1" y="2194560"/>
            <a:ext cx="405993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user_id  (FK → users)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0791" y="2432304"/>
            <a:ext cx="405993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approver_id / pic_id  (FK)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2670048"/>
            <a:ext cx="405993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category_id  (FK)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1" y="2907792"/>
            <a:ext cx="405993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title / slug (UK)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3145536"/>
            <a:ext cx="405993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doc_type /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3383280"/>
            <a:ext cx="405993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visibility / audience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0791" y="3621024"/>
            <a:ext cx="405993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review_at / effective_at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1572768"/>
            <a:ext cx="29718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tags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41080" y="1956816"/>
            <a:ext cx="29718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1956816"/>
            <a:ext cx="28254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 (PK)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2194560"/>
            <a:ext cx="28254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name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4232" y="2432304"/>
            <a:ext cx="28254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slug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14232" y="2670048"/>
            <a:ext cx="282549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color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4251960"/>
            <a:ext cx="20116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document_tag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4636008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791" y="4636008"/>
            <a:ext cx="18653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document_id (FK)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50791" y="4873752"/>
            <a:ext cx="18653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tag_id (FK)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4251960"/>
            <a:ext cx="2331720" cy="384048"/>
          </a:xfrm>
          <a:prstGeom prst="rect">
            <a:avLst/>
          </a:prstGeom>
          <a:solidFill>
            <a:srgbClr val="002F80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document_versions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636008"/>
            <a:ext cx="2331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6792" y="4636008"/>
            <a:ext cx="21854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4873752"/>
            <a:ext cx="21854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document_id (FK)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5111496"/>
            <a:ext cx="21854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version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6792" y="5349240"/>
            <a:ext cx="21854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from_status / to_status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792" y="5586984"/>
            <a:ext cx="21854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snapshot (json)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251960"/>
            <a:ext cx="3017520" cy="384048"/>
          </a:xfrm>
          <a:prstGeom prst="rect">
            <a:avLst/>
          </a:prstGeom>
          <a:solidFill>
            <a:srgbClr val="C90018"/>
          </a:solidFill>
          <a:ln w="12700">
            <a:solidFill>
              <a:srgbClr val="C90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document_relations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636008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0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" y="4636008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" y="4873752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document_id (FK)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" y="5111496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related_id (FK→doc)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" y="5349240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system_id / event_id / faq_id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" y="5586984"/>
            <a:ext cx="2871215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relation_type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20440" y="2377440"/>
            <a:ext cx="457199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566160" y="21031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Calibri"/>
              </a:rPr>
              <a:t>1 : 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183879" y="3200400"/>
            <a:ext cx="228601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412480" y="3200400"/>
            <a:ext cx="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412480" y="3200400"/>
            <a:ext cx="109728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138160" y="2926080"/>
            <a:ext cx="1463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Calibri"/>
              </a:rPr>
              <a:t>M : N (tag)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657600" y="4892040"/>
            <a:ext cx="320039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703320" y="46177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Calibri"/>
              </a:rPr>
              <a:t>1 : N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897880" y="3200400"/>
            <a:ext cx="96012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858000" y="3200400"/>
            <a:ext cx="0" cy="10515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858000" y="4251960"/>
            <a:ext cx="54864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035040" y="3246120"/>
            <a:ext cx="2011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Calibri"/>
              </a:rPr>
              <a:t>1 : N  versi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2743200" y="3200400"/>
            <a:ext cx="192024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743200" y="3200400"/>
            <a:ext cx="0" cy="105156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2011680" y="4251960"/>
            <a:ext cx="731520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148840" y="3246120"/>
            <a:ext cx="23774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Calibri"/>
              </a:rPr>
              <a:t>1 : N  relasi keluar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document_relations bersifat polimorfik: satu baris menunjuk tepat satu target (dokumen / sistem / agenda / FAQ).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9FB4D8"/>
                </a:solidFill>
                <a:latin typeface="Calibri"/>
              </a:rPr>
              <a:t>ENTITY RELATIONSHIP DIAGRAM · 3/3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ERD — Interaksi, Knowledge &amp; Komunitas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83464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28346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37360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975104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document_id (FK)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12848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system_id (FK)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450591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relation_type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1371600"/>
            <a:ext cx="283464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events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1737360"/>
            <a:ext cx="28346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1737360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1975104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title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212848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category / starts_at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450591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visibility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1371600"/>
            <a:ext cx="2834640" cy="365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faqs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737360"/>
            <a:ext cx="28346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1737360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1975104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212848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2450591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visibility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29800" y="1371600"/>
            <a:ext cx="178308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737360"/>
            <a:ext cx="1783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1737360"/>
            <a:ext cx="1636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1975104"/>
            <a:ext cx="1636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name / slug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11880"/>
            <a:ext cx="28346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bookmarks / likes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77640"/>
            <a:ext cx="28346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3977640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4215384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user_id (FK)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4453128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document_id (FK)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4690872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created_at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3611880"/>
            <a:ext cx="28346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reading_positions / notes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11880" y="3977640"/>
            <a:ext cx="28346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85032" y="3977640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5032" y="4215384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user_id (FK)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85032" y="4453128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document_id (FK)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5032" y="4690872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page / percent / body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3611880"/>
            <a:ext cx="283464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activity_logs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3977640"/>
            <a:ext cx="28346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3992" y="3977640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3992" y="4215384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user_id (FK)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3992" y="4453128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C90018"/>
                </a:solidFill>
                <a:latin typeface="Calibri"/>
              </a:rPr>
              <a:t>document_id (FK)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3992" y="4690872"/>
            <a:ext cx="268833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action / meta (json)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800" y="3611880"/>
            <a:ext cx="1783080" cy="365760"/>
          </a:xfrm>
          <a:prstGeom prst="rect">
            <a:avLst/>
          </a:prstGeom>
          <a:solidFill>
            <a:srgbClr val="C90018"/>
          </a:solidFill>
          <a:ln w="12700">
            <a:solidFill>
              <a:srgbClr val="C90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3977640"/>
            <a:ext cx="17830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0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2952" y="3977640"/>
            <a:ext cx="1636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002F80"/>
                </a:solidFill>
                <a:latin typeface="Calibri"/>
              </a:rPr>
              <a:t>id (PK)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2952" y="4215384"/>
            <a:ext cx="1636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notifiable_id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02952" y="4453128"/>
            <a:ext cx="1636776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Calibri"/>
              </a:rPr>
              <a:t>read_at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234440" y="2834640"/>
            <a:ext cx="0" cy="7772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343400" y="2834640"/>
            <a:ext cx="0" cy="7772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452360" y="2834640"/>
            <a:ext cx="0" cy="7772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02920" y="2880360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systems · events · faqs  ──▶  document_relations (target relasi, on delete: set null)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29800" y="4709160"/>
            <a:ext cx="1783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0">
                <a:solidFill>
                  <a:srgbClr val="334155"/>
                </a:solidFill>
                <a:latin typeface="Calibri"/>
              </a:rPr>
              <a:t>contacts
(unit_id FK)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698480" y="2514600"/>
            <a:ext cx="0" cy="219456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744200" y="3566160"/>
            <a:ext cx="12801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Calibri"/>
              </a:rPr>
              <a:t>1 : 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Tabel framework (cache, jobs, sessions, migrations, password_resets) tidak ditampilkan — fokus domain aplikasi.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9FB4D8"/>
                </a:solidFill>
                <a:latin typeface="Calibri"/>
              </a:rPr>
              <a:t>DATA FLOW DIAGRAM · LEVEL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DFD Konteks — Sistem &amp; Entitas Eksternal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606040"/>
            <a:ext cx="3108960" cy="1645920"/>
          </a:xfrm>
          <a:prstGeom prst="roundRect">
            <a:avLst>
              <a:gd name="adj" fmla="val 8000"/>
            </a:avLst>
          </a:prstGeom>
          <a:solidFill>
            <a:srgbClr val="002F80"/>
          </a:solidFill>
          <a:ln w="12700">
            <a:solidFill>
              <a:srgbClr val="001C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
Sistem
YPL Smart Digital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002F80"/>
                </a:solidFill>
                <a:latin typeface="Calibri"/>
              </a:rPr>
              <a:t>Tamu /
Pengguna Publik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002F80"/>
                </a:solidFill>
                <a:latin typeface="Calibri"/>
              </a:rPr>
              <a:t>Anggota
(login)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137160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00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C90018"/>
                </a:solidFill>
                <a:latin typeface="Calibri"/>
              </a:rPr>
              <a:t>Staff /
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420624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7C3AED"/>
                </a:solidFill>
                <a:latin typeface="Calibri"/>
              </a:rPr>
              <a:t>Gemini LLM
(API eksternal)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1691640"/>
            <a:ext cx="1828800" cy="114300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0" y="1879092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permintaan halaman,</a:t>
            </a:r>
          </a:p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pencarian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743200" y="2103120"/>
            <a:ext cx="1828800" cy="100584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43200" y="2221991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konten publik,</a:t>
            </a:r>
          </a:p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hasil pencarian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743200" y="3749039"/>
            <a:ext cx="1828800" cy="822961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0" y="3776472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login, bookmark, like,</a:t>
            </a:r>
          </a:p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catatan, pengajuan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743200" y="4114800"/>
            <a:ext cx="1828800" cy="64008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0" y="4050791"/>
            <a:ext cx="1828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dokumen terautorisasi,</a:t>
            </a:r>
          </a:p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notifikasi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680960" y="1828800"/>
            <a:ext cx="1783080" cy="100584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80960" y="1947672"/>
            <a:ext cx="178307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konten dokumen,</a:t>
            </a:r>
          </a:p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hasil olah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680960" y="2148840"/>
            <a:ext cx="1783080" cy="96012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80960" y="2244852"/>
            <a:ext cx="178307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unggah/kelola dokumen,</a:t>
            </a:r>
          </a:p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pengaturan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0" y="3749039"/>
            <a:ext cx="1783080" cy="822961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80960" y="3776472"/>
            <a:ext cx="178307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pertanyaan +</a:t>
            </a:r>
          </a:p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konteks kutipan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7680960" y="4114800"/>
            <a:ext cx="1783080" cy="182880"/>
          </a:xfrm>
          <a:prstGeom prst="line">
            <a:avLst/>
          </a:prstGeom>
          <a:ln w="19050">
            <a:solidFill>
              <a:srgbClr val="3341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80960" y="3822191"/>
            <a:ext cx="1783079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jawaban</a:t>
            </a:r>
          </a:p>
          <a:p>
            <a:pPr algn="ctr"/>
            <a:r>
              <a:rPr sz="900" b="1">
                <a:solidFill>
                  <a:srgbClr val="334155"/>
                </a:solidFill>
                <a:latin typeface="Calibri"/>
              </a:rPr>
              <a:t>(narasi)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60" y="5029200"/>
            <a:ext cx="2834640" cy="77724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334155"/>
                </a:solidFill>
                <a:latin typeface="Calibri"/>
              </a:rPr>
              <a:t>Basis Data MySQL
(documents · users · relations)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26480" y="4251960"/>
            <a:ext cx="0" cy="7772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9FB4D8"/>
                </a:solidFill>
                <a:latin typeface="Calibri"/>
              </a:rPr>
              <a:t>DATA FLOW DIAGRAM · LEVEL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DFD Rincian — Proses Utama &amp; Data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1.0
Autentikasi &amp;
Akun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2.0
Manajemen
Dokumen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3.0
Penelusuran &amp;
Knowledge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4.0
Interaksi
Pembaca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20040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5.0
Layanan &amp;
Permintaan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20040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6.0
Governance &amp;
Notifikasi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320040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7.0
Analitik &amp;
Pelaporan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9204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334155"/>
                </a:solidFill>
                <a:latin typeface="Calibri"/>
              </a:rPr>
              <a:t>D1  users / roles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89204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334155"/>
                </a:solidFill>
                <a:latin typeface="Calibri"/>
              </a:rPr>
              <a:t>D2  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89204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334155"/>
                </a:solidFill>
                <a:latin typeface="Calibri"/>
              </a:rPr>
              <a:t>D3  document_versions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489204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334155"/>
                </a:solidFill>
                <a:latin typeface="Calibri"/>
              </a:rPr>
              <a:t>D4  document_relations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3212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334155"/>
                </a:solidFill>
                <a:latin typeface="Calibri"/>
              </a:rPr>
              <a:t>D5  bookmarks / likes / notes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553212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334155"/>
                </a:solidFill>
                <a:latin typeface="Calibri"/>
              </a:rPr>
              <a:t>D6  service_requests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553212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334155"/>
                </a:solidFill>
                <a:latin typeface="Calibri"/>
              </a:rPr>
              <a:t>D7  activity_logs / notifications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5532120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334155"/>
                </a:solidFill>
                <a:latin typeface="Calibri"/>
              </a:rPr>
              <a:t>D8  settings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83080" y="2560320"/>
            <a:ext cx="0" cy="233172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26280" y="2560320"/>
            <a:ext cx="0" cy="233172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69480" y="2560320"/>
            <a:ext cx="0" cy="233172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012680" y="2560320"/>
            <a:ext cx="0" cy="233172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83080" y="4389120"/>
            <a:ext cx="0" cy="114300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26280" y="4389120"/>
            <a:ext cx="0" cy="114300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69480" y="4389120"/>
            <a:ext cx="0" cy="114300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012680" y="4389120"/>
            <a:ext cx="0" cy="114300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8640" y="1051560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Setiap proses membaca/menulis ke data store terkait (D1–D8). Aliran antar-proses diringkas agar diagram tetap terbaca.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9FB4D8"/>
                </a:solidFill>
                <a:latin typeface="Calibri"/>
              </a:rPr>
              <a:t>USE CASE DIAGRAM · AKTOR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Aktor &amp; Hak Akses Sistem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17320"/>
            <a:ext cx="2212848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2212848" cy="868680"/>
          </a:xfrm>
          <a:prstGeom prst="roundRect">
            <a:avLst>
              <a:gd name="adj" fmla="val 4000"/>
            </a:avLst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🧑‍💻
Tamu / Publik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02996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Tanpa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2651760"/>
            <a:ext cx="1956815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Lihat beranda &amp; bookshelf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Telusuri &amp; cari dokumen publik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Lihat governance &amp; agenda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Daftar akun baru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1417320"/>
            <a:ext cx="2212848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417320"/>
            <a:ext cx="2212848" cy="868680"/>
          </a:xfrm>
          <a:prstGeom prst="roundRect">
            <a:avLst>
              <a:gd name="adj" fmla="val 4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👤
Anggota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31720"/>
            <a:ext cx="202996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Login terverifikasi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2651760"/>
            <a:ext cx="1956815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Bookmark, like, catatan baca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Ask YPL &amp; rekomendasi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Ajukan layanan &amp; peran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Terima notifikasi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417320"/>
            <a:ext cx="2212848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17320"/>
            <a:ext cx="2212848" cy="868680"/>
          </a:xfrm>
          <a:prstGeom prst="roundRect">
            <a:avLst>
              <a:gd name="adj" fmla="val 4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🧑‍🔧
Staff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331720"/>
            <a:ext cx="202996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Pengelola konten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651760"/>
            <a:ext cx="1956815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Unggah / tulis dokumen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Kelola versi &amp; relasi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Transisi lifecycle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Analitik operasional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9" y="1417320"/>
            <a:ext cx="2212848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1417320"/>
            <a:ext cx="2212848" cy="868680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🛡️
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2331720"/>
            <a:ext cx="202996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Pengelola yayasan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651760"/>
            <a:ext cx="1956815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Kelola kategori &amp; pengguna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Setujui peningkatan peran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Lihat log aktivitas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Kelola permintaan layanan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1417320"/>
            <a:ext cx="2212848" cy="4297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417320"/>
            <a:ext cx="2212848" cy="868680"/>
          </a:xfrm>
          <a:prstGeom prst="roundRect">
            <a:avLst>
              <a:gd name="adj" fmla="val 4000"/>
            </a:avLst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👑
Super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331720"/>
            <a:ext cx="2029967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Pemilik sistem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0656" y="2651760"/>
            <a:ext cx="1956815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Pengaturan web &amp; fitur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Kelola peran (RBAC)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Kelola semua akun</a:t>
            </a:r>
          </a:p>
          <a:p>
            <a:pPr algn="l"/>
            <a:r>
              <a:rPr sz="950" b="0">
                <a:solidFill>
                  <a:srgbClr val="334155"/>
                </a:solidFill>
                <a:latin typeface="Calibri"/>
              </a:rPr>
              <a:t>• Kontrol penuh sistem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Calibri"/>
              </a:rPr>
              <a:t>Aktor tersusun hierarkis: hak akses Staff ⊃ Anggota, Admin ⊃ Staff, Super Admin ⊃ Admin.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2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111556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9FB4D8"/>
                </a:solidFill>
                <a:latin typeface="Calibri"/>
              </a:rPr>
              <a:t>USE CASE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9184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Diagram Use Case Utama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234440"/>
            <a:ext cx="7543800" cy="5257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28016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334155"/>
                </a:solidFill>
                <a:latin typeface="Calibri"/>
              </a:rPr>
              <a:t>Sistem YPL Smart Digital Library</a:t>
            </a:r>
          </a:p>
        </p:txBody>
      </p:sp>
      <p:sp>
        <p:nvSpPr>
          <p:cNvPr id="9" name="Oval 8"/>
          <p:cNvSpPr/>
          <p:nvPr/>
        </p:nvSpPr>
        <p:spPr>
          <a:xfrm>
            <a:off x="2926080" y="178308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Login / Daftar</a:t>
            </a:r>
          </a:p>
        </p:txBody>
      </p:sp>
      <p:sp>
        <p:nvSpPr>
          <p:cNvPr id="10" name="Oval 9"/>
          <p:cNvSpPr/>
          <p:nvPr/>
        </p:nvSpPr>
        <p:spPr>
          <a:xfrm>
            <a:off x="2926080" y="269748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Telusuri &amp; Cari Dokumen</a:t>
            </a:r>
          </a:p>
        </p:txBody>
      </p:sp>
      <p:sp>
        <p:nvSpPr>
          <p:cNvPr id="11" name="Oval 10"/>
          <p:cNvSpPr/>
          <p:nvPr/>
        </p:nvSpPr>
        <p:spPr>
          <a:xfrm>
            <a:off x="2926080" y="361188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Baca Dokumen (Reader)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0" y="452628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Bookmark / Like / Catatan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178308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Ask YPL (tanya-jawab)</a:t>
            </a:r>
          </a:p>
        </p:txBody>
      </p:sp>
      <p:sp>
        <p:nvSpPr>
          <p:cNvPr id="14" name="Oval 13"/>
          <p:cNvSpPr/>
          <p:nvPr/>
        </p:nvSpPr>
        <p:spPr>
          <a:xfrm>
            <a:off x="5989320" y="269748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Kelola Dokumen &amp; Versi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361188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Kelola Relasi Knowledge</a:t>
            </a:r>
          </a:p>
        </p:txBody>
      </p:sp>
      <p:sp>
        <p:nvSpPr>
          <p:cNvPr id="16" name="Oval 15"/>
          <p:cNvSpPr/>
          <p:nvPr/>
        </p:nvSpPr>
        <p:spPr>
          <a:xfrm>
            <a:off x="5989320" y="452628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Transisi Lifecycle</a:t>
            </a:r>
          </a:p>
        </p:txBody>
      </p:sp>
      <p:sp>
        <p:nvSpPr>
          <p:cNvPr id="17" name="Oval 16"/>
          <p:cNvSpPr/>
          <p:nvPr/>
        </p:nvSpPr>
        <p:spPr>
          <a:xfrm>
            <a:off x="5166360" y="534924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Ajukan Layanan</a:t>
            </a:r>
          </a:p>
        </p:txBody>
      </p:sp>
      <p:sp>
        <p:nvSpPr>
          <p:cNvPr id="18" name="Oval 17"/>
          <p:cNvSpPr/>
          <p:nvPr/>
        </p:nvSpPr>
        <p:spPr>
          <a:xfrm>
            <a:off x="2926080" y="5349240"/>
            <a:ext cx="1965960" cy="658368"/>
          </a:xfrm>
          <a:prstGeom prst="ellipse">
            <a:avLst/>
          </a:prstGeom>
          <a:solidFill>
            <a:srgbClr val="EFF4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50" b="1">
                <a:solidFill>
                  <a:srgbClr val="002F80"/>
                </a:solidFill>
                <a:latin typeface="Calibri"/>
              </a:rPr>
              <a:t>Notifikasi &amp; 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194560"/>
            <a:ext cx="1371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002F80"/>
                </a:solidFill>
                <a:latin typeface="Calibri"/>
              </a:rPr>
              <a:t>🧑‍💻
Tamu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931920"/>
            <a:ext cx="1371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002F80"/>
                </a:solidFill>
                <a:latin typeface="Calibri"/>
              </a:rPr>
              <a:t>👤
Anggota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2194560"/>
            <a:ext cx="1371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002F80"/>
                </a:solidFill>
                <a:latin typeface="Calibri"/>
              </a:rPr>
              <a:t>🧑‍🔧
Staff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49840" y="3931920"/>
            <a:ext cx="13716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00" b="1">
                <a:solidFill>
                  <a:srgbClr val="002F80"/>
                </a:solidFill>
                <a:latin typeface="Calibri"/>
              </a:rPr>
              <a:t>🛡️
Admin /
Super Admin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783080" y="2103120"/>
            <a:ext cx="1143000" cy="4114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83080" y="4572000"/>
            <a:ext cx="1143000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783080" y="3749039"/>
            <a:ext cx="1143000" cy="457201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955279" y="2103120"/>
            <a:ext cx="2194561" cy="4114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7955279" y="3749039"/>
            <a:ext cx="2194561" cy="457201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955279" y="2743200"/>
            <a:ext cx="2194561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892040" y="2103120"/>
            <a:ext cx="1097280" cy="0"/>
          </a:xfrm>
          <a:prstGeom prst="line">
            <a:avLst/>
          </a:prstGeom>
          <a:ln w="15240">
            <a:solidFill>
              <a:srgbClr val="C900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46320" y="1828800"/>
            <a:ext cx="11887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800" b="1">
                <a:solidFill>
                  <a:srgbClr val="C90018"/>
                </a:solidFill>
                <a:latin typeface="Calibri"/>
              </a:rPr>
              <a:t>«include»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263640"/>
            <a:ext cx="11430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Relasi «include»: setiap use case terlindungi membutuhkan Login/Daftar terlebih dahulu.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1C55"/>
              </a:gs>
              <a:gs pos="100000">
                <a:srgbClr val="002F80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463040" cy="82296"/>
          </a:xfrm>
          <a:prstGeom prst="rect">
            <a:avLst/>
          </a:prstGeom>
          <a:solidFill>
            <a:srgbClr val="C90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 ERD: dokumen sebagai pusat dengan relasi first-class membentuk knowledge graph.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 DFD: aliran data terstruktur dari entitas eksternal hingga ke data store MySQL.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 Use Case: 5 aktor dengan hak akses berlapis dan kontrol otorisasi yang jelas.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•  Desain mendukung audit (versi dokumen) dan akses permission-aware.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9FB4D8"/>
                </a:solidFill>
                <a:latin typeface="Calibri"/>
              </a:rPr>
              <a:t>Terima kasih  ·  Yayasan Pendidikan Lokon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